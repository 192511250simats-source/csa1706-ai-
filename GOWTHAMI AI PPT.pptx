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2" r:id="rId5"/>
    <p:sldId id="297" r:id="rId6"/>
    <p:sldId id="278" r:id="rId7"/>
    <p:sldId id="303" r:id="rId8"/>
    <p:sldId id="288" r:id="rId9"/>
    <p:sldId id="261" r:id="rId10"/>
    <p:sldId id="304" r:id="rId11"/>
    <p:sldId id="305" r:id="rId12"/>
    <p:sldId id="306" r:id="rId13"/>
    <p:sldId id="292" r:id="rId14"/>
    <p:sldId id="26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BEB9AA"/>
    <a:srgbClr val="C0C9C2"/>
    <a:srgbClr val="AA9D92"/>
    <a:srgbClr val="F2F1EE"/>
    <a:srgbClr val="D8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43CC2-92E9-4731-B0BC-10CB72914920}" v="11" dt="2026-03-24T05:55:15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95" autoAdjust="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13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 userDrawn="1">
          <p15:clr>
            <a:srgbClr val="F26B43"/>
          </p15:clr>
        </p15:guide>
        <p15:guide id="2" pos="1176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824" userDrawn="1">
          <p15:clr>
            <a:srgbClr val="F26B43"/>
          </p15:clr>
        </p15:guide>
        <p15:guide id="5" pos="1944" userDrawn="1">
          <p15:clr>
            <a:srgbClr val="F26B43"/>
          </p15:clr>
        </p15:guide>
        <p15:guide id="6" pos="2472" userDrawn="1">
          <p15:clr>
            <a:srgbClr val="F26B43"/>
          </p15:clr>
        </p15:guide>
        <p15:guide id="7" pos="2592" userDrawn="1">
          <p15:clr>
            <a:srgbClr val="F26B43"/>
          </p15:clr>
        </p15:guide>
        <p15:guide id="8" pos="3120" userDrawn="1">
          <p15:clr>
            <a:srgbClr val="F26B43"/>
          </p15:clr>
        </p15:guide>
        <p15:guide id="9" pos="3240" userDrawn="1">
          <p15:clr>
            <a:srgbClr val="F26B43"/>
          </p15:clr>
        </p15:guide>
        <p15:guide id="10" pos="3792" userDrawn="1">
          <p15:clr>
            <a:srgbClr val="F26B43"/>
          </p15:clr>
        </p15:guide>
        <p15:guide id="11" pos="3912" userDrawn="1">
          <p15:clr>
            <a:srgbClr val="F26B43"/>
          </p15:clr>
        </p15:guide>
        <p15:guide id="12" pos="4416" userDrawn="1">
          <p15:clr>
            <a:srgbClr val="F26B43"/>
          </p15:clr>
        </p15:guide>
        <p15:guide id="13" pos="4560" userDrawn="1">
          <p15:clr>
            <a:srgbClr val="F26B43"/>
          </p15:clr>
        </p15:guide>
        <p15:guide id="14" pos="5088" userDrawn="1">
          <p15:clr>
            <a:srgbClr val="F26B43"/>
          </p15:clr>
        </p15:guide>
        <p15:guide id="15" pos="5208" userDrawn="1">
          <p15:clr>
            <a:srgbClr val="F26B43"/>
          </p15:clr>
        </p15:guide>
        <p15:guide id="16" pos="5736" userDrawn="1">
          <p15:clr>
            <a:srgbClr val="F26B43"/>
          </p15:clr>
        </p15:guide>
        <p15:guide id="17" pos="5856" userDrawn="1">
          <p15:clr>
            <a:srgbClr val="F26B43"/>
          </p15:clr>
        </p15:guide>
        <p15:guide id="18" pos="6384" userDrawn="1">
          <p15:clr>
            <a:srgbClr val="F26B43"/>
          </p15:clr>
        </p15:guide>
        <p15:guide id="19" pos="6504" userDrawn="1">
          <p15:clr>
            <a:srgbClr val="F26B43"/>
          </p15:clr>
        </p15:guide>
        <p15:guide id="20" pos="7032" userDrawn="1">
          <p15:clr>
            <a:srgbClr val="F26B43"/>
          </p15:clr>
        </p15:guide>
        <p15:guide id="21" orient="horz" pos="288" userDrawn="1">
          <p15:clr>
            <a:srgbClr val="F26B43"/>
          </p15:clr>
        </p15:guide>
        <p15:guide id="22" orient="horz" pos="1128" userDrawn="1">
          <p15:clr>
            <a:srgbClr val="F26B43"/>
          </p15:clr>
        </p15:guide>
        <p15:guide id="23" orient="horz" pos="1248" userDrawn="1">
          <p15:clr>
            <a:srgbClr val="F26B43"/>
          </p15:clr>
        </p15:guide>
        <p15:guide id="24" orient="horz" pos="2088" userDrawn="1">
          <p15:clr>
            <a:srgbClr val="F26B43"/>
          </p15:clr>
        </p15:guide>
        <p15:guide id="25" orient="horz" pos="2232" userDrawn="1">
          <p15:clr>
            <a:srgbClr val="F26B43"/>
          </p15:clr>
        </p15:guide>
        <p15:guide id="26" orient="horz" pos="3048" userDrawn="1">
          <p15:clr>
            <a:srgbClr val="F26B43"/>
          </p15:clr>
        </p15:guide>
        <p15:guide id="27" orient="horz" pos="3192" userDrawn="1">
          <p15:clr>
            <a:srgbClr val="F26B43"/>
          </p15:clr>
        </p15:guide>
        <p15:guide id="28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2E362-F1A3-0171-FBD0-0D69D9AE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8122B6-5765-C851-997B-0C046F9F4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94639"/>
            <a:ext cx="11067216" cy="1041107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D392D39E-6A2E-A939-A552-A22D6FBC8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79" y="1518740"/>
            <a:ext cx="11425557" cy="2242441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 Price Prediction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04C12-2A86-9CFA-6039-74BC69F7F198}"/>
              </a:ext>
            </a:extLst>
          </p:cNvPr>
          <p:cNvSpPr txBox="1"/>
          <p:nvPr/>
        </p:nvSpPr>
        <p:spPr>
          <a:xfrm>
            <a:off x="333374" y="4218039"/>
            <a:ext cx="6472539" cy="2068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u="none" strike="noStrike" cap="none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Course Name: </a:t>
            </a:r>
            <a:r>
              <a:rPr lang="en-US" sz="24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Artificial Intelligence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Course Code: CSA1706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aytone One"/>
              </a:rPr>
              <a:t>Supervisor: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aytone One"/>
              </a:rPr>
              <a:t>Dr. Krishna Kumar kathiresan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EA3C87A6-0163-8070-F364-2DAE9FF9F487}"/>
              </a:ext>
            </a:extLst>
          </p:cNvPr>
          <p:cNvSpPr txBox="1">
            <a:spLocks/>
          </p:cNvSpPr>
          <p:nvPr/>
        </p:nvSpPr>
        <p:spPr>
          <a:xfrm>
            <a:off x="8215952" y="4927990"/>
            <a:ext cx="3642674" cy="154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accent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Gowthami(192524285)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Amrutha(192511250)</a:t>
            </a:r>
          </a:p>
        </p:txBody>
      </p:sp>
    </p:spTree>
    <p:extLst>
      <p:ext uri="{BB962C8B-B14F-4D97-AF65-F5344CB8AC3E}">
        <p14:creationId xmlns:p14="http://schemas.microsoft.com/office/powerpoint/2010/main" val="4855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A6EAFC-8C9D-020E-7921-C50D7C99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38DF5079-2446-C776-C273-C212877B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9129" y="500826"/>
            <a:ext cx="4876800" cy="68674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89779F-C632-1150-004A-6FA871821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1" y="1021715"/>
            <a:ext cx="7447800" cy="5873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 prediction helps estimate the market value of properties using machine learning.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considers features such as location, size, number of bedrooms, bathrooms, and amenities.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learn from historical housing data to make accurate predictions.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buyers, sellers, and real estate companies make better decisions.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improves prediction accuracy and reduces manual estimation.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2AE57-4C66-8AA8-C19F-FB5E6EAA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253" y="2386462"/>
            <a:ext cx="4404246" cy="29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1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954" y="617629"/>
            <a:ext cx="4876800" cy="686745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48A532-E1AC-175D-4E7F-56921A07A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0557" y="1439345"/>
            <a:ext cx="7795714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 prediction is one of the most important applications of machine learning in the real estate industry.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 house depends on multiple factors such as location, area, number of bedrooms, bathrooms, age of the property, nearby facilities, and market demand.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of estimating house prices are often manual, time-consuming, and may produce inaccurate results.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buyers, sellers, and real estate businesses.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337AB-25BD-F3C8-292F-09B602121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44" y="2231408"/>
            <a:ext cx="4149631" cy="314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9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4CEDE-F515-C6C6-29BC-A7531FD67B7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0EA6C54-2562-43EA-9A1B-F808D04718E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19855-5ED8-E3E9-6191-863905512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30ED5-02DA-A89E-9665-7738B371F181}"/>
              </a:ext>
            </a:extLst>
          </p:cNvPr>
          <p:cNvSpPr txBox="1"/>
          <p:nvPr/>
        </p:nvSpPr>
        <p:spPr>
          <a:xfrm>
            <a:off x="2995685" y="143301"/>
            <a:ext cx="63939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C1EBE-F030-E0E5-D4FF-04746E12582E}"/>
              </a:ext>
            </a:extLst>
          </p:cNvPr>
          <p:cNvSpPr txBox="1"/>
          <p:nvPr/>
        </p:nvSpPr>
        <p:spPr>
          <a:xfrm>
            <a:off x="133350" y="1052983"/>
            <a:ext cx="1185386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 selling price of a house based on various property-related features.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prices vary depending on factors such as location, area, number of bedrooms, bathrooms, and amenities.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estimating the price of a property can be time-consuming and inaccurate.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model can be developed to learn patterns from historical house-price data.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use features such as house size, number of rooms, location, age of the property, and other relevant attributes.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064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84F35-3C49-81CB-5748-08C1B5E1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559EE9C0-ABCC-9F24-30C8-A9CEECC5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796" y="163772"/>
            <a:ext cx="6402621" cy="800445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AC9E8-1EEA-ABFB-9F7F-730FE2847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951225"/>
            <a:ext cx="7086600" cy="583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house price prediction system using machine learning.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historical housing data for analysis.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missing values and improve data quality through preprocessing.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important features affecting house prices, such as location, area, bedrooms, bathrooms, and amenities.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F4339-10AB-952A-6D0D-854276E6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728" y="1771161"/>
            <a:ext cx="4047699" cy="404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5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A371F5-EAAD-4ADC-8D3F-1CBB98D5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518" y="2646651"/>
            <a:ext cx="5863482" cy="135572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b="1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DD8D0B-F383-2F28-6120-4800DF396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531" y="0"/>
            <a:ext cx="5918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0A8CA-86BA-BC70-D6B3-10D4F781369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0EA6C54-2562-43EA-9A1B-F808D04718E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B57E7D-F789-3EB5-CFEE-EB7934383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C5129-9D63-E2D8-580D-E4B044108E7F}"/>
              </a:ext>
            </a:extLst>
          </p:cNvPr>
          <p:cNvSpPr txBox="1"/>
          <p:nvPr/>
        </p:nvSpPr>
        <p:spPr>
          <a:xfrm>
            <a:off x="2463421" y="252484"/>
            <a:ext cx="7902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CLEANING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E8014-6B4D-5701-9E46-C92BCAF0ABA5}"/>
              </a:ext>
            </a:extLst>
          </p:cNvPr>
          <p:cNvSpPr txBox="1"/>
          <p:nvPr/>
        </p:nvSpPr>
        <p:spPr>
          <a:xfrm>
            <a:off x="0" y="1868185"/>
            <a:ext cx="6743699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the house price dataset from a reliable source.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and duplicate values.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outliers and inconsistent records.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categorical data into numerical format.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and preprocess the data for better model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cleaned dataset into training and testing sets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7C3169-7173-BA41-E61F-298355A35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699" y="2354239"/>
            <a:ext cx="4962385" cy="352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6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2D967-3E75-6344-E0A9-0C6E0D073C3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0EA6C54-2562-43EA-9A1B-F808D04718E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0A3985-A8FE-625A-A361-5062393D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7D7B5-315D-A7FE-7E6C-C0BCDDC55CF0}"/>
              </a:ext>
            </a:extLst>
          </p:cNvPr>
          <p:cNvSpPr txBox="1"/>
          <p:nvPr/>
        </p:nvSpPr>
        <p:spPr>
          <a:xfrm>
            <a:off x="1596789" y="423081"/>
            <a:ext cx="98878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REGRESSION MODEL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A1F80-8A81-E39F-34DD-669556975C4A}"/>
              </a:ext>
            </a:extLst>
          </p:cNvPr>
          <p:cNvSpPr txBox="1"/>
          <p:nvPr/>
        </p:nvSpPr>
        <p:spPr>
          <a:xfrm>
            <a:off x="75063" y="1521725"/>
            <a:ext cx="6680579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 regression algorithm (e.g., Linear Regression) to the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important features such as location, area, bedrooms, and bathrooms.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metrics like Mean Absolute Error (MAE), Mean Squared Error (MSE), and R²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model to improve prediction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trained model for deployment.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285872-B4B7-636B-88FE-07ED19CDB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989" y="1665027"/>
            <a:ext cx="5295898" cy="2456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8237BE-3407-D275-A5C8-703BC6455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641" y="4421874"/>
            <a:ext cx="5166245" cy="213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43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0B771-F023-CAF5-C44C-95BC4DAC3D6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0EA6C54-2562-43EA-9A1B-F808D04718E7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127ADC-080D-31D1-3C68-F958B8871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FB885-1950-861A-331F-4FD96D36240E}"/>
              </a:ext>
            </a:extLst>
          </p:cNvPr>
          <p:cNvSpPr txBox="1"/>
          <p:nvPr/>
        </p:nvSpPr>
        <p:spPr>
          <a:xfrm>
            <a:off x="975814" y="518615"/>
            <a:ext cx="10809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PRICE PREDICTION PORTAL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2F740-68B4-59B3-3608-05731065DB80}"/>
              </a:ext>
            </a:extLst>
          </p:cNvPr>
          <p:cNvSpPr txBox="1"/>
          <p:nvPr/>
        </p:nvSpPr>
        <p:spPr>
          <a:xfrm>
            <a:off x="0" y="1535373"/>
            <a:ext cx="7342497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web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enter house details such as location, area, number of bedrooms, and bathrooms.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trained regression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estimated house price instantly.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predicted price clearly along with input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simple, responsive, and easy-to-use interface for users.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A5F522-DA4B-354A-EC58-F12837EE0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637" y="1738600"/>
            <a:ext cx="4749422" cy="379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23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D45EE-99A1-4BC0-D459-ADD7F6B8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AE5EA6C1-C949-29D5-3126-308EF1BC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701" y="193856"/>
            <a:ext cx="7496174" cy="691970"/>
          </a:xfrm>
        </p:spPr>
        <p:txBody>
          <a:bodyPr/>
          <a:lstStyle/>
          <a:p>
            <a:pPr algn="ctr"/>
            <a:r>
              <a:rPr lang="en-IN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4800" b="1" dirty="0"/>
              <a:t> </a:t>
            </a:r>
            <a:r>
              <a:rPr lang="en-IN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US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76C8304D-A101-7100-CD87-F9A18CCC9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6766E-8F26-5D1A-5967-BCF67E3AC456}"/>
              </a:ext>
            </a:extLst>
          </p:cNvPr>
          <p:cNvSpPr txBox="1"/>
          <p:nvPr/>
        </p:nvSpPr>
        <p:spPr>
          <a:xfrm>
            <a:off x="495300" y="1193225"/>
            <a:ext cx="11201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Smith et al. (2024)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Linear Regression for house price prediction.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feature selection to improve prediction accuracy.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good performance on residential housing datasets.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that Linear Regression is effective for baseline prediction models.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Kumar et al. (2025)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Random Forest Regression for house price estimation.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multiple property features such as location, area, and amenities.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prediction accuracy compared to traditional methods.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overfitting using ensemble learning techniques.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Zhang et al. (2025)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house price prediction.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large housing datasets efficiently.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prediction accuracy and faster training time.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Outperformed several conventional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202385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29" y="455406"/>
            <a:ext cx="10477541" cy="906341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800" b="1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A8A002-810F-04A8-4DB5-A3BE7641F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6719" y="1765247"/>
            <a:ext cx="7021976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provides an effective solution for predicting house prices with high accuracy.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engineering significantly improve the quality of predictions.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efficiently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housing data to estimate property prices.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reduce manual effort and minimize human errors in price estimation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house price prediction system is reliable, efficient, and suitable for modern real estate applications.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2F0A6-81A3-AFB2-9D84-AFBD38858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87" y="2190464"/>
            <a:ext cx="4450995" cy="35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4C1777-B62D-468E-BE34-64A07CED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261" y="2954438"/>
            <a:ext cx="9292941" cy="655320"/>
          </a:xfrm>
        </p:spPr>
        <p:txBody>
          <a:bodyPr>
            <a:noAutofit/>
          </a:bodyPr>
          <a:lstStyle/>
          <a:p>
            <a:pPr algn="ctr"/>
            <a:r>
              <a:rPr lang="en-US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7513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color presentation_Win32_LW_v2.potx" id="{B7F4C684-7BE5-4BD8-BEBE-7F207A45F474}" vid="{9091DE1E-F617-4C59-950B-F96736B889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976319-4513-485C-AD3A-E56C39927A3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color presentation</Template>
  <TotalTime>406</TotalTime>
  <Words>748</Words>
  <Application>Microsoft Office PowerPoint</Application>
  <PresentationFormat>Widescreen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Biome Light</vt:lpstr>
      <vt:lpstr>Calibri</vt:lpstr>
      <vt:lpstr>Times New Roman</vt:lpstr>
      <vt:lpstr>Office Theme</vt:lpstr>
      <vt:lpstr>House Price Prediction</vt:lpstr>
      <vt:lpstr>ABSTRACT</vt:lpstr>
      <vt:lpstr>INTRODUCTION</vt:lpstr>
      <vt:lpstr>PowerPoint Presentation</vt:lpstr>
      <vt:lpstr>OBJECTIVES</vt:lpstr>
      <vt:lpstr>SYSTEM ARCHITECTURE</vt:lpstr>
      <vt:lpstr>PowerPoint Presentation</vt:lpstr>
      <vt:lpstr>PowerPoint Presentation</vt:lpstr>
      <vt:lpstr>PowerPoint Presentation</vt:lpstr>
      <vt:lpstr>LITERATURE SURVEY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Vyshali Dudde</dc:creator>
  <cp:lastModifiedBy>priyanka reddy</cp:lastModifiedBy>
  <cp:revision>21</cp:revision>
  <dcterms:created xsi:type="dcterms:W3CDTF">2026-02-28T08:49:36Z</dcterms:created>
  <dcterms:modified xsi:type="dcterms:W3CDTF">2026-09-02T04:32:13Z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